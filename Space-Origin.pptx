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omfortaa Bold" panose="020B0604020202020204" charset="0"/>
      <p:regular r:id="rId17"/>
    </p:embeddedFont>
    <p:embeddedFont>
      <p:font typeface="Comfortaa Light" panose="020B0604020202020204" charset="0"/>
      <p:regular r:id="rId18"/>
    </p:embeddedFont>
    <p:embeddedFont>
      <p:font typeface="Raleway Bold" panose="020B0604020202020204" charset="0"/>
      <p:regular r:id="rId19"/>
    </p:embeddedFont>
    <p:embeddedFont>
      <p:font typeface="Raleway Medium" pitchFamily="2" charset="0"/>
      <p:regular r:id="rId20"/>
    </p:embeddedFont>
    <p:embeddedFont>
      <p:font typeface="Raleway Medium Italics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3333" r="-83333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959328" y="3314700"/>
            <a:ext cx="9227344" cy="17862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Space Origin: Galactic Strike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959328" y="5458568"/>
            <a:ext cx="9227344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Misi Penyelamatan Galaksi di Planet Xylos-9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59328" y="6316113"/>
            <a:ext cx="9227344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Disusun oleh:  Tim 3ITTech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49836" y="894159"/>
            <a:ext cx="5332514" cy="695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87"/>
              </a:lnSpc>
            </a:pPr>
            <a:r>
              <a:rPr lang="en-US" sz="4187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Konsep &amp; Tema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49836" y="2017957"/>
            <a:ext cx="4522289" cy="4467225"/>
            <a:chOff x="0" y="0"/>
            <a:chExt cx="6029719" cy="59563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029706" cy="5956300"/>
            </a:xfrm>
            <a:custGeom>
              <a:avLst/>
              <a:gdLst/>
              <a:ahLst/>
              <a:cxnLst/>
              <a:rect l="l" t="t" r="r" b="b"/>
              <a:pathLst>
                <a:path w="6029706" h="5956300">
                  <a:moveTo>
                    <a:pt x="0" y="599948"/>
                  </a:moveTo>
                  <a:cubicBezTo>
                    <a:pt x="0" y="268605"/>
                    <a:pt x="268605" y="0"/>
                    <a:pt x="599948" y="0"/>
                  </a:cubicBezTo>
                  <a:lnTo>
                    <a:pt x="5429758" y="0"/>
                  </a:lnTo>
                  <a:cubicBezTo>
                    <a:pt x="5761101" y="0"/>
                    <a:pt x="6029706" y="268605"/>
                    <a:pt x="6029706" y="599948"/>
                  </a:cubicBezTo>
                  <a:lnTo>
                    <a:pt x="6029706" y="5356352"/>
                  </a:lnTo>
                  <a:cubicBezTo>
                    <a:pt x="6029706" y="5687695"/>
                    <a:pt x="5761101" y="5956300"/>
                    <a:pt x="5429758" y="5956300"/>
                  </a:cubicBezTo>
                  <a:lnTo>
                    <a:pt x="599948" y="5956300"/>
                  </a:lnTo>
                  <a:cubicBezTo>
                    <a:pt x="268605" y="5956300"/>
                    <a:pt x="0" y="5687695"/>
                    <a:pt x="0" y="535635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349721" y="2289277"/>
            <a:ext cx="3332712" cy="44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Sesuai Tema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49721" y="2810466"/>
            <a:ext cx="3922509" cy="3246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312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Game ini menjawab tema yang diumumkan panitia pada Day 1 dengan sempurna, menghadirkan alien dengan  konsep luar angkasa yang futuristik dan misi penyelamatan galaksi.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5857875" y="2017957"/>
            <a:ext cx="4522289" cy="4467225"/>
            <a:chOff x="0" y="0"/>
            <a:chExt cx="6029719" cy="5956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29706" cy="5956300"/>
            </a:xfrm>
            <a:custGeom>
              <a:avLst/>
              <a:gdLst/>
              <a:ahLst/>
              <a:cxnLst/>
              <a:rect l="l" t="t" r="r" b="b"/>
              <a:pathLst>
                <a:path w="6029706" h="5956300">
                  <a:moveTo>
                    <a:pt x="0" y="599948"/>
                  </a:moveTo>
                  <a:cubicBezTo>
                    <a:pt x="0" y="268605"/>
                    <a:pt x="268605" y="0"/>
                    <a:pt x="599948" y="0"/>
                  </a:cubicBezTo>
                  <a:lnTo>
                    <a:pt x="5429758" y="0"/>
                  </a:lnTo>
                  <a:cubicBezTo>
                    <a:pt x="5761101" y="0"/>
                    <a:pt x="6029706" y="268605"/>
                    <a:pt x="6029706" y="599948"/>
                  </a:cubicBezTo>
                  <a:lnTo>
                    <a:pt x="6029706" y="5356352"/>
                  </a:lnTo>
                  <a:cubicBezTo>
                    <a:pt x="6029706" y="5687695"/>
                    <a:pt x="5761101" y="5956300"/>
                    <a:pt x="5429758" y="5956300"/>
                  </a:cubicBezTo>
                  <a:lnTo>
                    <a:pt x="599948" y="5956300"/>
                  </a:lnTo>
                  <a:cubicBezTo>
                    <a:pt x="268605" y="5956300"/>
                    <a:pt x="0" y="5687695"/>
                    <a:pt x="0" y="535635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157760" y="2289277"/>
            <a:ext cx="3332712" cy="44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Visi Proyek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157760" y="2810466"/>
            <a:ext cx="3922509" cy="1846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312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Menciptakan pengalaman </a:t>
            </a:r>
            <a:r>
              <a:rPr lang="en-US" sz="2312" b="1" i="1">
                <a:solidFill>
                  <a:srgbClr val="D7D4CC"/>
                </a:solidFill>
                <a:latin typeface="Raleway Medium Italics"/>
                <a:ea typeface="Raleway Medium Italics"/>
                <a:cs typeface="Raleway Medium Italics"/>
                <a:sym typeface="Raleway Medium Italics"/>
              </a:rPr>
              <a:t>arcade shooter</a:t>
            </a:r>
            <a:r>
              <a:rPr lang="en-US" sz="2312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yang intens namun mudah diakses langsung melalui browser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1049836" y="6770932"/>
            <a:ext cx="9330328" cy="2593181"/>
            <a:chOff x="0" y="0"/>
            <a:chExt cx="12440437" cy="345757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2440412" cy="3457575"/>
            </a:xfrm>
            <a:custGeom>
              <a:avLst/>
              <a:gdLst/>
              <a:ahLst/>
              <a:cxnLst/>
              <a:rect l="l" t="t" r="r" b="b"/>
              <a:pathLst>
                <a:path w="12440412" h="3457575">
                  <a:moveTo>
                    <a:pt x="0" y="599948"/>
                  </a:moveTo>
                  <a:cubicBezTo>
                    <a:pt x="0" y="268605"/>
                    <a:pt x="268605" y="0"/>
                    <a:pt x="599948" y="0"/>
                  </a:cubicBezTo>
                  <a:lnTo>
                    <a:pt x="11840464" y="0"/>
                  </a:lnTo>
                  <a:cubicBezTo>
                    <a:pt x="12171807" y="0"/>
                    <a:pt x="12440412" y="268605"/>
                    <a:pt x="12440412" y="599948"/>
                  </a:cubicBezTo>
                  <a:lnTo>
                    <a:pt x="12440412" y="2857627"/>
                  </a:lnTo>
                  <a:cubicBezTo>
                    <a:pt x="12440412" y="3188970"/>
                    <a:pt x="12171807" y="3457575"/>
                    <a:pt x="11840464" y="3457575"/>
                  </a:cubicBezTo>
                  <a:lnTo>
                    <a:pt x="599948" y="3457575"/>
                  </a:lnTo>
                  <a:cubicBezTo>
                    <a:pt x="268605" y="3457575"/>
                    <a:pt x="0" y="3188970"/>
                    <a:pt x="0" y="2857627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1349721" y="7042252"/>
            <a:ext cx="3332712" cy="4449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Eksekusi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9721" y="7563441"/>
            <a:ext cx="8730558" cy="91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87"/>
              </a:lnSpc>
            </a:pPr>
            <a:r>
              <a:rPr lang="en-US" sz="2312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Didukung JavaScript dan Three.js untuk performa optimal, dengan aset yang dioptimalkan untuk gameplay ringan.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2019" y="728215"/>
            <a:ext cx="4633170" cy="598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362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Mekanik Gameplay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2019" y="1837287"/>
            <a:ext cx="28956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Genre &amp; Kontrol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2019" y="2367410"/>
            <a:ext cx="10478986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Side-scrolling Shooter</a:t>
            </a:r>
            <a:r>
              <a:rPr lang="en-US" sz="2000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dengan kontrol intuitif menggunakan tombol WASD untuk gerakan dan Space untuk tembakan.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2019" y="3448345"/>
            <a:ext cx="10478986" cy="5848645"/>
            <a:chOff x="0" y="0"/>
            <a:chExt cx="13971981" cy="7798194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3972032" cy="7798181"/>
            </a:xfrm>
            <a:custGeom>
              <a:avLst/>
              <a:gdLst/>
              <a:ahLst/>
              <a:cxnLst/>
              <a:rect l="l" t="t" r="r" b="b"/>
              <a:pathLst>
                <a:path w="13972032" h="7798181">
                  <a:moveTo>
                    <a:pt x="0" y="0"/>
                  </a:moveTo>
                  <a:lnTo>
                    <a:pt x="13972032" y="0"/>
                  </a:lnTo>
                  <a:lnTo>
                    <a:pt x="13972032" y="7798181"/>
                  </a:lnTo>
                  <a:lnTo>
                    <a:pt x="0" y="77981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" b="-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036323" y="3748087"/>
            <a:ext cx="2895600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Fitur Utama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36323" y="4278211"/>
            <a:ext cx="5349030" cy="32751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Dynamic Parallax Background</a:t>
            </a:r>
            <a:r>
              <a:rPr lang="en-US" sz="2000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menciptakan kesan kedalaman luar angkasa yang imersif</a:t>
            </a:r>
          </a:p>
          <a:p>
            <a:pPr marL="301625" lvl="1" indent="-150812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Difficulty Scaling</a:t>
            </a:r>
            <a:r>
              <a:rPr lang="en-US" sz="2000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otomatis menyesuaikan kecepatan dan jumlah musuh sesuai skor</a:t>
            </a:r>
          </a:p>
          <a:p>
            <a:pPr marL="301625" lvl="1" indent="-150812" algn="l">
              <a:lnSpc>
                <a:spcPts val="3000"/>
              </a:lnSpc>
              <a:buFont typeface="Arial"/>
              <a:buChar char="•"/>
            </a:pPr>
            <a:r>
              <a:rPr lang="en-US" sz="2000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Combat System</a:t>
            </a:r>
            <a:r>
              <a:rPr lang="en-US" sz="2000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dengan laser neon, efek Muzzle Flash, dan ledakan partikel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01328" y="2353866"/>
            <a:ext cx="5594747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Aspek Teknis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01328" y="3720551"/>
            <a:ext cx="786708" cy="786708"/>
          </a:xfrm>
          <a:custGeom>
            <a:avLst/>
            <a:gdLst/>
            <a:ahLst/>
            <a:cxnLst/>
            <a:rect l="l" t="t" r="r" b="b"/>
            <a:pathLst>
              <a:path w="786708" h="786708">
                <a:moveTo>
                  <a:pt x="0" y="0"/>
                </a:moveTo>
                <a:lnTo>
                  <a:pt x="786708" y="0"/>
                </a:lnTo>
                <a:lnTo>
                  <a:pt x="786708" y="786708"/>
                </a:lnTo>
                <a:lnTo>
                  <a:pt x="0" y="7867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7229" b="-7228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101328" y="4881562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JavaScript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328" y="5412134"/>
            <a:ext cx="5099447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Core programming untuk logika game, input handling, dan sistem skor real-time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6594129" y="3720551"/>
            <a:ext cx="786708" cy="786708"/>
          </a:xfrm>
          <a:custGeom>
            <a:avLst/>
            <a:gdLst/>
            <a:ahLst/>
            <a:cxnLst/>
            <a:rect l="l" t="t" r="r" b="b"/>
            <a:pathLst>
              <a:path w="786708" h="786708">
                <a:moveTo>
                  <a:pt x="0" y="0"/>
                </a:moveTo>
                <a:lnTo>
                  <a:pt x="786708" y="0"/>
                </a:lnTo>
                <a:lnTo>
                  <a:pt x="786708" y="786708"/>
                </a:lnTo>
                <a:lnTo>
                  <a:pt x="0" y="7867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4217" b="-421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594129" y="4881562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Three.js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94129" y="5412134"/>
            <a:ext cx="5099599" cy="14716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Render grafis 2D dengan efek parallax dan animasi smooth tanpa engine berat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2087073" y="3720551"/>
            <a:ext cx="786708" cy="786708"/>
          </a:xfrm>
          <a:custGeom>
            <a:avLst/>
            <a:gdLst/>
            <a:ahLst/>
            <a:cxnLst/>
            <a:rect l="l" t="t" r="r" b="b"/>
            <a:pathLst>
              <a:path w="786708" h="786708">
                <a:moveTo>
                  <a:pt x="0" y="0"/>
                </a:moveTo>
                <a:lnTo>
                  <a:pt x="786707" y="0"/>
                </a:lnTo>
                <a:lnTo>
                  <a:pt x="786707" y="786708"/>
                </a:lnTo>
                <a:lnTo>
                  <a:pt x="0" y="786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t="-37348" b="-3734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87073" y="4881562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HTML5 Canvas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87073" y="5412134"/>
            <a:ext cx="5099599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Alternatif rendering untuk kompatibilitas maksimal di semua browser modern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1328" y="7276948"/>
            <a:ext cx="16085344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Teknologi dipilih untuk memastikan performa maksimal tanpa kompromi pada kualitas visual.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59328" y="921248"/>
            <a:ext cx="5295157" cy="657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37"/>
              </a:lnSpc>
            </a:pPr>
            <a:r>
              <a:rPr lang="en-US" sz="3937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Aset &amp; Konten Game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7940278" y="1942357"/>
            <a:ext cx="9265444" cy="2087766"/>
            <a:chOff x="0" y="0"/>
            <a:chExt cx="12353925" cy="2783688"/>
          </a:xfrm>
        </p:grpSpPr>
        <p:sp>
          <p:nvSpPr>
            <p:cNvPr id="10" name="Freeform 10"/>
            <p:cNvSpPr/>
            <p:nvPr/>
          </p:nvSpPr>
          <p:spPr>
            <a:xfrm>
              <a:off x="25400" y="25400"/>
              <a:ext cx="12303252" cy="2732913"/>
            </a:xfrm>
            <a:custGeom>
              <a:avLst/>
              <a:gdLst/>
              <a:ahLst/>
              <a:cxnLst/>
              <a:rect l="l" t="t" r="r" b="b"/>
              <a:pathLst>
                <a:path w="12303252" h="2732913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055856" y="0"/>
                  </a:lnTo>
                  <a:cubicBezTo>
                    <a:pt x="12192508" y="0"/>
                    <a:pt x="12303252" y="109220"/>
                    <a:pt x="12303252" y="243840"/>
                  </a:cubicBezTo>
                  <a:lnTo>
                    <a:pt x="12303252" y="2489073"/>
                  </a:lnTo>
                  <a:cubicBezTo>
                    <a:pt x="12303252" y="2623693"/>
                    <a:pt x="12192508" y="2732913"/>
                    <a:pt x="12055856" y="2732913"/>
                  </a:cubicBezTo>
                  <a:lnTo>
                    <a:pt x="247396" y="2732913"/>
                  </a:lnTo>
                  <a:cubicBezTo>
                    <a:pt x="110744" y="2732913"/>
                    <a:pt x="0" y="2623693"/>
                    <a:pt x="0" y="2489073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12354052" cy="2783713"/>
            </a:xfrm>
            <a:custGeom>
              <a:avLst/>
              <a:gdLst/>
              <a:ahLst/>
              <a:cxnLst/>
              <a:rect l="l" t="t" r="r" b="b"/>
              <a:pathLst>
                <a:path w="12354052" h="2783713">
                  <a:moveTo>
                    <a:pt x="0" y="269240"/>
                  </a:moveTo>
                  <a:cubicBezTo>
                    <a:pt x="0" y="120142"/>
                    <a:pt x="122428" y="0"/>
                    <a:pt x="272796" y="0"/>
                  </a:cubicBezTo>
                  <a:lnTo>
                    <a:pt x="12081256" y="0"/>
                  </a:lnTo>
                  <a:lnTo>
                    <a:pt x="12081256" y="25400"/>
                  </a:lnTo>
                  <a:lnTo>
                    <a:pt x="12081256" y="0"/>
                  </a:lnTo>
                  <a:cubicBezTo>
                    <a:pt x="12231497" y="0"/>
                    <a:pt x="12354052" y="120142"/>
                    <a:pt x="12354052" y="269240"/>
                  </a:cubicBezTo>
                  <a:lnTo>
                    <a:pt x="12328652" y="269240"/>
                  </a:lnTo>
                  <a:lnTo>
                    <a:pt x="12354052" y="269240"/>
                  </a:lnTo>
                  <a:lnTo>
                    <a:pt x="12354052" y="2514473"/>
                  </a:lnTo>
                  <a:lnTo>
                    <a:pt x="12328652" y="2514473"/>
                  </a:lnTo>
                  <a:lnTo>
                    <a:pt x="12354052" y="2514473"/>
                  </a:lnTo>
                  <a:cubicBezTo>
                    <a:pt x="12354052" y="2663444"/>
                    <a:pt x="12231624" y="2783713"/>
                    <a:pt x="12081256" y="2783713"/>
                  </a:cubicBezTo>
                  <a:lnTo>
                    <a:pt x="12081256" y="2758313"/>
                  </a:lnTo>
                  <a:lnTo>
                    <a:pt x="12081256" y="2783713"/>
                  </a:lnTo>
                  <a:lnTo>
                    <a:pt x="272796" y="2783713"/>
                  </a:lnTo>
                  <a:lnTo>
                    <a:pt x="272796" y="2758313"/>
                  </a:lnTo>
                  <a:lnTo>
                    <a:pt x="272796" y="2783713"/>
                  </a:lnTo>
                  <a:cubicBezTo>
                    <a:pt x="122428" y="2783713"/>
                    <a:pt x="0" y="2663444"/>
                    <a:pt x="0" y="251447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4473"/>
                  </a:lnTo>
                  <a:lnTo>
                    <a:pt x="25400" y="2514473"/>
                  </a:lnTo>
                  <a:lnTo>
                    <a:pt x="50800" y="2514473"/>
                  </a:lnTo>
                  <a:cubicBezTo>
                    <a:pt x="50800" y="2634742"/>
                    <a:pt x="149860" y="2732913"/>
                    <a:pt x="272796" y="2732913"/>
                  </a:cubicBezTo>
                  <a:lnTo>
                    <a:pt x="12081256" y="2732913"/>
                  </a:lnTo>
                  <a:cubicBezTo>
                    <a:pt x="12204192" y="2732913"/>
                    <a:pt x="12303252" y="2634742"/>
                    <a:pt x="12303252" y="2514473"/>
                  </a:cubicBezTo>
                  <a:lnTo>
                    <a:pt x="12303252" y="269240"/>
                  </a:lnTo>
                  <a:cubicBezTo>
                    <a:pt x="12303252" y="148971"/>
                    <a:pt x="12204192" y="50800"/>
                    <a:pt x="1208125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7921228" y="1961407"/>
            <a:ext cx="152400" cy="2049666"/>
            <a:chOff x="0" y="0"/>
            <a:chExt cx="203200" cy="27328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3200" cy="2732913"/>
            </a:xfrm>
            <a:custGeom>
              <a:avLst/>
              <a:gdLst/>
              <a:ahLst/>
              <a:cxnLst/>
              <a:rect l="l" t="t" r="r" b="b"/>
              <a:pathLst>
                <a:path w="203200" h="273291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1313"/>
                  </a:lnTo>
                  <a:cubicBezTo>
                    <a:pt x="203200" y="2687447"/>
                    <a:pt x="157734" y="2732913"/>
                    <a:pt x="101600" y="2732913"/>
                  </a:cubicBezTo>
                  <a:cubicBezTo>
                    <a:pt x="45466" y="2732913"/>
                    <a:pt x="0" y="2687447"/>
                    <a:pt x="0" y="2631313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8394944" y="2263673"/>
            <a:ext cx="3452070" cy="41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Custom Sci-fi Blaster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94944" y="2752725"/>
            <a:ext cx="8470402" cy="93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Senjata utama dengan desain futuristik dan efek tembakan neon yang khas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940278" y="4246807"/>
            <a:ext cx="9265444" cy="2087766"/>
            <a:chOff x="0" y="0"/>
            <a:chExt cx="12353925" cy="2783688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12303252" cy="2732913"/>
            </a:xfrm>
            <a:custGeom>
              <a:avLst/>
              <a:gdLst/>
              <a:ahLst/>
              <a:cxnLst/>
              <a:rect l="l" t="t" r="r" b="b"/>
              <a:pathLst>
                <a:path w="12303252" h="2732913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055856" y="0"/>
                  </a:lnTo>
                  <a:cubicBezTo>
                    <a:pt x="12192508" y="0"/>
                    <a:pt x="12303252" y="109220"/>
                    <a:pt x="12303252" y="243840"/>
                  </a:cubicBezTo>
                  <a:lnTo>
                    <a:pt x="12303252" y="2489073"/>
                  </a:lnTo>
                  <a:cubicBezTo>
                    <a:pt x="12303252" y="2623693"/>
                    <a:pt x="12192508" y="2732913"/>
                    <a:pt x="12055856" y="2732913"/>
                  </a:cubicBezTo>
                  <a:lnTo>
                    <a:pt x="247396" y="2732913"/>
                  </a:lnTo>
                  <a:cubicBezTo>
                    <a:pt x="110744" y="2732913"/>
                    <a:pt x="0" y="2623693"/>
                    <a:pt x="0" y="2489073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2354052" cy="2783713"/>
            </a:xfrm>
            <a:custGeom>
              <a:avLst/>
              <a:gdLst/>
              <a:ahLst/>
              <a:cxnLst/>
              <a:rect l="l" t="t" r="r" b="b"/>
              <a:pathLst>
                <a:path w="12354052" h="2783713">
                  <a:moveTo>
                    <a:pt x="0" y="269240"/>
                  </a:moveTo>
                  <a:cubicBezTo>
                    <a:pt x="0" y="120142"/>
                    <a:pt x="122428" y="0"/>
                    <a:pt x="272796" y="0"/>
                  </a:cubicBezTo>
                  <a:lnTo>
                    <a:pt x="12081256" y="0"/>
                  </a:lnTo>
                  <a:lnTo>
                    <a:pt x="12081256" y="25400"/>
                  </a:lnTo>
                  <a:lnTo>
                    <a:pt x="12081256" y="0"/>
                  </a:lnTo>
                  <a:cubicBezTo>
                    <a:pt x="12231497" y="0"/>
                    <a:pt x="12354052" y="120142"/>
                    <a:pt x="12354052" y="269240"/>
                  </a:cubicBezTo>
                  <a:lnTo>
                    <a:pt x="12328652" y="269240"/>
                  </a:lnTo>
                  <a:lnTo>
                    <a:pt x="12354052" y="269240"/>
                  </a:lnTo>
                  <a:lnTo>
                    <a:pt x="12354052" y="2514473"/>
                  </a:lnTo>
                  <a:lnTo>
                    <a:pt x="12328652" y="2514473"/>
                  </a:lnTo>
                  <a:lnTo>
                    <a:pt x="12354052" y="2514473"/>
                  </a:lnTo>
                  <a:cubicBezTo>
                    <a:pt x="12354052" y="2663444"/>
                    <a:pt x="12231624" y="2783713"/>
                    <a:pt x="12081256" y="2783713"/>
                  </a:cubicBezTo>
                  <a:lnTo>
                    <a:pt x="12081256" y="2758313"/>
                  </a:lnTo>
                  <a:lnTo>
                    <a:pt x="12081256" y="2783713"/>
                  </a:lnTo>
                  <a:lnTo>
                    <a:pt x="272796" y="2783713"/>
                  </a:lnTo>
                  <a:lnTo>
                    <a:pt x="272796" y="2758313"/>
                  </a:lnTo>
                  <a:lnTo>
                    <a:pt x="272796" y="2783713"/>
                  </a:lnTo>
                  <a:cubicBezTo>
                    <a:pt x="122428" y="2783713"/>
                    <a:pt x="0" y="2663444"/>
                    <a:pt x="0" y="251447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4473"/>
                  </a:lnTo>
                  <a:lnTo>
                    <a:pt x="25400" y="2514473"/>
                  </a:lnTo>
                  <a:lnTo>
                    <a:pt x="50800" y="2514473"/>
                  </a:lnTo>
                  <a:cubicBezTo>
                    <a:pt x="50800" y="2634742"/>
                    <a:pt x="149860" y="2732913"/>
                    <a:pt x="272796" y="2732913"/>
                  </a:cubicBezTo>
                  <a:lnTo>
                    <a:pt x="12081256" y="2732913"/>
                  </a:lnTo>
                  <a:cubicBezTo>
                    <a:pt x="12204192" y="2732913"/>
                    <a:pt x="12303252" y="2634742"/>
                    <a:pt x="12303252" y="2514473"/>
                  </a:cubicBezTo>
                  <a:lnTo>
                    <a:pt x="12303252" y="269240"/>
                  </a:lnTo>
                  <a:cubicBezTo>
                    <a:pt x="12303252" y="148971"/>
                    <a:pt x="12204192" y="50800"/>
                    <a:pt x="1208125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7921228" y="4265857"/>
            <a:ext cx="152400" cy="2049666"/>
            <a:chOff x="0" y="0"/>
            <a:chExt cx="203200" cy="273288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3200" cy="2732913"/>
            </a:xfrm>
            <a:custGeom>
              <a:avLst/>
              <a:gdLst/>
              <a:ahLst/>
              <a:cxnLst/>
              <a:rect l="l" t="t" r="r" b="b"/>
              <a:pathLst>
                <a:path w="203200" h="273291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1313"/>
                  </a:lnTo>
                  <a:cubicBezTo>
                    <a:pt x="203200" y="2687447"/>
                    <a:pt x="157734" y="2732913"/>
                    <a:pt x="101600" y="2732913"/>
                  </a:cubicBezTo>
                  <a:cubicBezTo>
                    <a:pt x="45466" y="2732913"/>
                    <a:pt x="0" y="2687447"/>
                    <a:pt x="0" y="2631313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21" name="TextBox 21"/>
          <p:cNvSpPr txBox="1"/>
          <p:nvPr/>
        </p:nvSpPr>
        <p:spPr>
          <a:xfrm>
            <a:off x="8394944" y="4568133"/>
            <a:ext cx="3421561" cy="41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Background Parallax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94944" y="5057184"/>
            <a:ext cx="8470402" cy="93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Latar belakang multi-layer menciptakan kedalaman dan gerakan dinamis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7940278" y="6551266"/>
            <a:ext cx="9265444" cy="2087766"/>
            <a:chOff x="0" y="0"/>
            <a:chExt cx="12353925" cy="2783688"/>
          </a:xfrm>
        </p:grpSpPr>
        <p:sp>
          <p:nvSpPr>
            <p:cNvPr id="24" name="Freeform 24"/>
            <p:cNvSpPr/>
            <p:nvPr/>
          </p:nvSpPr>
          <p:spPr>
            <a:xfrm>
              <a:off x="25400" y="25400"/>
              <a:ext cx="12303252" cy="2732913"/>
            </a:xfrm>
            <a:custGeom>
              <a:avLst/>
              <a:gdLst/>
              <a:ahLst/>
              <a:cxnLst/>
              <a:rect l="l" t="t" r="r" b="b"/>
              <a:pathLst>
                <a:path w="12303252" h="2732913">
                  <a:moveTo>
                    <a:pt x="0" y="243840"/>
                  </a:moveTo>
                  <a:cubicBezTo>
                    <a:pt x="0" y="109220"/>
                    <a:pt x="110744" y="0"/>
                    <a:pt x="247396" y="0"/>
                  </a:cubicBezTo>
                  <a:lnTo>
                    <a:pt x="12055856" y="0"/>
                  </a:lnTo>
                  <a:cubicBezTo>
                    <a:pt x="12192508" y="0"/>
                    <a:pt x="12303252" y="109220"/>
                    <a:pt x="12303252" y="243840"/>
                  </a:cubicBezTo>
                  <a:lnTo>
                    <a:pt x="12303252" y="2489073"/>
                  </a:lnTo>
                  <a:cubicBezTo>
                    <a:pt x="12303252" y="2623693"/>
                    <a:pt x="12192508" y="2732913"/>
                    <a:pt x="12055856" y="2732913"/>
                  </a:cubicBezTo>
                  <a:lnTo>
                    <a:pt x="247396" y="2732913"/>
                  </a:lnTo>
                  <a:cubicBezTo>
                    <a:pt x="110744" y="2732913"/>
                    <a:pt x="0" y="2623693"/>
                    <a:pt x="0" y="2489073"/>
                  </a:cubicBezTo>
                  <a:close/>
                </a:path>
              </a:pathLst>
            </a:custGeom>
            <a:solidFill>
              <a:srgbClr val="27272B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12354052" cy="2783713"/>
            </a:xfrm>
            <a:custGeom>
              <a:avLst/>
              <a:gdLst/>
              <a:ahLst/>
              <a:cxnLst/>
              <a:rect l="l" t="t" r="r" b="b"/>
              <a:pathLst>
                <a:path w="12354052" h="2783713">
                  <a:moveTo>
                    <a:pt x="0" y="269240"/>
                  </a:moveTo>
                  <a:cubicBezTo>
                    <a:pt x="0" y="120142"/>
                    <a:pt x="122428" y="0"/>
                    <a:pt x="272796" y="0"/>
                  </a:cubicBezTo>
                  <a:lnTo>
                    <a:pt x="12081256" y="0"/>
                  </a:lnTo>
                  <a:lnTo>
                    <a:pt x="12081256" y="25400"/>
                  </a:lnTo>
                  <a:lnTo>
                    <a:pt x="12081256" y="0"/>
                  </a:lnTo>
                  <a:cubicBezTo>
                    <a:pt x="12231497" y="0"/>
                    <a:pt x="12354052" y="120142"/>
                    <a:pt x="12354052" y="269240"/>
                  </a:cubicBezTo>
                  <a:lnTo>
                    <a:pt x="12328652" y="269240"/>
                  </a:lnTo>
                  <a:lnTo>
                    <a:pt x="12354052" y="269240"/>
                  </a:lnTo>
                  <a:lnTo>
                    <a:pt x="12354052" y="2514473"/>
                  </a:lnTo>
                  <a:lnTo>
                    <a:pt x="12328652" y="2514473"/>
                  </a:lnTo>
                  <a:lnTo>
                    <a:pt x="12354052" y="2514473"/>
                  </a:lnTo>
                  <a:cubicBezTo>
                    <a:pt x="12354052" y="2663444"/>
                    <a:pt x="12231624" y="2783713"/>
                    <a:pt x="12081256" y="2783713"/>
                  </a:cubicBezTo>
                  <a:lnTo>
                    <a:pt x="12081256" y="2758313"/>
                  </a:lnTo>
                  <a:lnTo>
                    <a:pt x="12081256" y="2783713"/>
                  </a:lnTo>
                  <a:lnTo>
                    <a:pt x="272796" y="2783713"/>
                  </a:lnTo>
                  <a:lnTo>
                    <a:pt x="272796" y="2758313"/>
                  </a:lnTo>
                  <a:lnTo>
                    <a:pt x="272796" y="2783713"/>
                  </a:lnTo>
                  <a:cubicBezTo>
                    <a:pt x="122428" y="2783713"/>
                    <a:pt x="0" y="2663444"/>
                    <a:pt x="0" y="2514473"/>
                  </a:cubicBezTo>
                  <a:lnTo>
                    <a:pt x="0" y="269240"/>
                  </a:lnTo>
                  <a:lnTo>
                    <a:pt x="25400" y="269240"/>
                  </a:lnTo>
                  <a:lnTo>
                    <a:pt x="0" y="269240"/>
                  </a:lnTo>
                  <a:moveTo>
                    <a:pt x="50800" y="269240"/>
                  </a:moveTo>
                  <a:lnTo>
                    <a:pt x="50800" y="2514473"/>
                  </a:lnTo>
                  <a:lnTo>
                    <a:pt x="25400" y="2514473"/>
                  </a:lnTo>
                  <a:lnTo>
                    <a:pt x="50800" y="2514473"/>
                  </a:lnTo>
                  <a:cubicBezTo>
                    <a:pt x="50800" y="2634742"/>
                    <a:pt x="149860" y="2732913"/>
                    <a:pt x="272796" y="2732913"/>
                  </a:cubicBezTo>
                  <a:lnTo>
                    <a:pt x="12081256" y="2732913"/>
                  </a:lnTo>
                  <a:cubicBezTo>
                    <a:pt x="12204192" y="2732913"/>
                    <a:pt x="12303252" y="2634742"/>
                    <a:pt x="12303252" y="2514473"/>
                  </a:cubicBezTo>
                  <a:lnTo>
                    <a:pt x="12303252" y="269240"/>
                  </a:lnTo>
                  <a:cubicBezTo>
                    <a:pt x="12303252" y="148971"/>
                    <a:pt x="12204192" y="50800"/>
                    <a:pt x="12081256" y="50800"/>
                  </a:cubicBezTo>
                  <a:lnTo>
                    <a:pt x="272796" y="50800"/>
                  </a:lnTo>
                  <a:lnTo>
                    <a:pt x="272796" y="25400"/>
                  </a:lnTo>
                  <a:lnTo>
                    <a:pt x="272796" y="50800"/>
                  </a:lnTo>
                  <a:cubicBezTo>
                    <a:pt x="149860" y="50800"/>
                    <a:pt x="50800" y="148971"/>
                    <a:pt x="50800" y="26924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7921228" y="6570316"/>
            <a:ext cx="152400" cy="2049666"/>
            <a:chOff x="0" y="0"/>
            <a:chExt cx="203200" cy="27328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03200" cy="2732913"/>
            </a:xfrm>
            <a:custGeom>
              <a:avLst/>
              <a:gdLst/>
              <a:ahLst/>
              <a:cxnLst/>
              <a:rect l="l" t="t" r="r" b="b"/>
              <a:pathLst>
                <a:path w="203200" h="2732913">
                  <a:moveTo>
                    <a:pt x="0" y="101600"/>
                  </a:moveTo>
                  <a:cubicBezTo>
                    <a:pt x="0" y="45466"/>
                    <a:pt x="45466" y="0"/>
                    <a:pt x="101600" y="0"/>
                  </a:cubicBezTo>
                  <a:cubicBezTo>
                    <a:pt x="157734" y="0"/>
                    <a:pt x="203200" y="45466"/>
                    <a:pt x="203200" y="101600"/>
                  </a:cubicBezTo>
                  <a:lnTo>
                    <a:pt x="203200" y="2631313"/>
                  </a:lnTo>
                  <a:cubicBezTo>
                    <a:pt x="203200" y="2687447"/>
                    <a:pt x="157734" y="2732913"/>
                    <a:pt x="101600" y="2732913"/>
                  </a:cubicBezTo>
                  <a:cubicBezTo>
                    <a:pt x="45466" y="2732913"/>
                    <a:pt x="0" y="2687447"/>
                    <a:pt x="0" y="2631313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8394944" y="6872583"/>
            <a:ext cx="3146974" cy="41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437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Particle Effects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94944" y="7361634"/>
            <a:ext cx="8470402" cy="93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LED dan ledakan dengan sistem partikel untuk dampak visual maksimal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59328" y="8830418"/>
            <a:ext cx="9227344" cy="5066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18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Semua aset </a:t>
            </a:r>
            <a:r>
              <a:rPr lang="en-US" sz="2187" b="1" i="1">
                <a:solidFill>
                  <a:srgbClr val="D7D4CC"/>
                </a:solidFill>
                <a:latin typeface="Raleway Medium Italics"/>
                <a:ea typeface="Raleway Medium Italics"/>
                <a:cs typeface="Raleway Medium Italics"/>
                <a:sym typeface="Raleway Medium Italics"/>
              </a:rPr>
              <a:t>open-source</a:t>
            </a:r>
            <a:r>
              <a:rPr lang="en-US" sz="218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disertai atribusi lengkap sesuai GDD.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01328" y="2262035"/>
            <a:ext cx="5594747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Fitur Visual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01328" y="3628730"/>
            <a:ext cx="2957665" cy="1827905"/>
            <a:chOff x="0" y="0"/>
            <a:chExt cx="3943553" cy="243720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3943604" cy="2437257"/>
            </a:xfrm>
            <a:custGeom>
              <a:avLst/>
              <a:gdLst/>
              <a:ahLst/>
              <a:cxnLst/>
              <a:rect l="l" t="t" r="r" b="b"/>
              <a:pathLst>
                <a:path w="3943604" h="2437257">
                  <a:moveTo>
                    <a:pt x="0" y="0"/>
                  </a:moveTo>
                  <a:lnTo>
                    <a:pt x="3943604" y="0"/>
                  </a:lnTo>
                  <a:lnTo>
                    <a:pt x="3943604" y="2437257"/>
                  </a:lnTo>
                  <a:lnTo>
                    <a:pt x="0" y="24372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3" r="-52" b="2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101328" y="5830938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Dynamic Parallax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1328" y="6361509"/>
            <a:ext cx="5099447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Latar belakang bergeser dengan kecepatan berbeda menciptakan ilusi 3D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94129" y="3628730"/>
            <a:ext cx="2957665" cy="1827905"/>
            <a:chOff x="0" y="0"/>
            <a:chExt cx="3943553" cy="24372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43604" cy="2437257"/>
            </a:xfrm>
            <a:custGeom>
              <a:avLst/>
              <a:gdLst/>
              <a:ahLst/>
              <a:cxnLst/>
              <a:rect l="l" t="t" r="r" b="b"/>
              <a:pathLst>
                <a:path w="3943604" h="2437257">
                  <a:moveTo>
                    <a:pt x="0" y="629412"/>
                  </a:moveTo>
                  <a:cubicBezTo>
                    <a:pt x="0" y="281813"/>
                    <a:pt x="281813" y="0"/>
                    <a:pt x="629412" y="0"/>
                  </a:cubicBezTo>
                  <a:lnTo>
                    <a:pt x="3314192" y="0"/>
                  </a:lnTo>
                  <a:cubicBezTo>
                    <a:pt x="3661791" y="0"/>
                    <a:pt x="3943604" y="281813"/>
                    <a:pt x="3943604" y="629412"/>
                  </a:cubicBezTo>
                  <a:lnTo>
                    <a:pt x="3943604" y="1807845"/>
                  </a:lnTo>
                  <a:cubicBezTo>
                    <a:pt x="3943604" y="2155444"/>
                    <a:pt x="3661791" y="2437257"/>
                    <a:pt x="3314192" y="2437257"/>
                  </a:cubicBezTo>
                  <a:lnTo>
                    <a:pt x="629412" y="2437257"/>
                  </a:lnTo>
                  <a:cubicBezTo>
                    <a:pt x="281813" y="2437257"/>
                    <a:pt x="0" y="2155444"/>
                    <a:pt x="0" y="1807845"/>
                  </a:cubicBezTo>
                  <a:close/>
                </a:path>
              </a:pathLst>
            </a:custGeom>
            <a:blipFill>
              <a:blip r:embed="rId4"/>
              <a:stretch>
                <a:fillRect t="-6370" b="-6370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594129" y="5830938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Laser Neon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94129" y="6361509"/>
            <a:ext cx="5099599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Senjata dengan warna neon dan efek Muzzle Flash untuk feedback instan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87073" y="3628730"/>
            <a:ext cx="2957665" cy="1827905"/>
            <a:chOff x="0" y="0"/>
            <a:chExt cx="3943553" cy="24372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943604" cy="2437257"/>
            </a:xfrm>
            <a:custGeom>
              <a:avLst/>
              <a:gdLst/>
              <a:ahLst/>
              <a:cxnLst/>
              <a:rect l="l" t="t" r="r" b="b"/>
              <a:pathLst>
                <a:path w="3943604" h="2437257">
                  <a:moveTo>
                    <a:pt x="0" y="629412"/>
                  </a:moveTo>
                  <a:cubicBezTo>
                    <a:pt x="0" y="281813"/>
                    <a:pt x="281813" y="0"/>
                    <a:pt x="629412" y="0"/>
                  </a:cubicBezTo>
                  <a:lnTo>
                    <a:pt x="3314192" y="0"/>
                  </a:lnTo>
                  <a:cubicBezTo>
                    <a:pt x="3661791" y="0"/>
                    <a:pt x="3943604" y="281813"/>
                    <a:pt x="3943604" y="629412"/>
                  </a:cubicBezTo>
                  <a:lnTo>
                    <a:pt x="3943604" y="1807845"/>
                  </a:lnTo>
                  <a:cubicBezTo>
                    <a:pt x="3943604" y="2155444"/>
                    <a:pt x="3661791" y="2437257"/>
                    <a:pt x="3314192" y="2437257"/>
                  </a:cubicBezTo>
                  <a:lnTo>
                    <a:pt x="629412" y="2437257"/>
                  </a:lnTo>
                  <a:cubicBezTo>
                    <a:pt x="281813" y="2437257"/>
                    <a:pt x="0" y="2155444"/>
                    <a:pt x="0" y="1807845"/>
                  </a:cubicBezTo>
                  <a:close/>
                </a:path>
              </a:pathLst>
            </a:custGeom>
            <a:blipFill>
              <a:blip r:embed="rId5"/>
              <a:stretch>
                <a:fillRect t="-32553" b="-32553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2087073" y="5830938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Particle Explosion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87073" y="6361509"/>
            <a:ext cx="5099599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LED musuh dengan sistem partikel yang responsif dan spektakuler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01328" y="1432770"/>
            <a:ext cx="7930305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Sistem &amp; Mekanik Lanjutan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1328" y="2694680"/>
            <a:ext cx="629393" cy="4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101328" y="3296098"/>
            <a:ext cx="5151987" cy="38100"/>
            <a:chOff x="0" y="0"/>
            <a:chExt cx="6869316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69303" cy="50800"/>
            </a:xfrm>
            <a:custGeom>
              <a:avLst/>
              <a:gdLst/>
              <a:ahLst/>
              <a:cxnLst/>
              <a:rect l="l" t="t" r="r" b="b"/>
              <a:pathLst>
                <a:path w="6869303" h="50800">
                  <a:moveTo>
                    <a:pt x="0" y="0"/>
                  </a:moveTo>
                  <a:lnTo>
                    <a:pt x="6869303" y="0"/>
                  </a:lnTo>
                  <a:lnTo>
                    <a:pt x="68693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101328" y="3510553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Input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1328" y="4041134"/>
            <a:ext cx="5151987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Kontrol responsif dengan deteksi keyboard WASD + Space untuk gerakan dan tembakan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67935" y="2694680"/>
            <a:ext cx="629393" cy="4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02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6567935" y="3296098"/>
            <a:ext cx="5151987" cy="38100"/>
            <a:chOff x="0" y="0"/>
            <a:chExt cx="6869316" cy="50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869303" cy="50800"/>
            </a:xfrm>
            <a:custGeom>
              <a:avLst/>
              <a:gdLst/>
              <a:ahLst/>
              <a:cxnLst/>
              <a:rect l="l" t="t" r="r" b="b"/>
              <a:pathLst>
                <a:path w="6869303" h="50800">
                  <a:moveTo>
                    <a:pt x="0" y="0"/>
                  </a:moveTo>
                  <a:lnTo>
                    <a:pt x="6869303" y="0"/>
                  </a:lnTo>
                  <a:lnTo>
                    <a:pt x="686930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6567935" y="3510553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Enemy Spawning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567935" y="4041134"/>
            <a:ext cx="5151987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Generasi musuh dinamis dengan pola berbeda berdasarkan level kesulitan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4542" y="2694680"/>
            <a:ext cx="629393" cy="4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03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12034542" y="3296098"/>
            <a:ext cx="5152130" cy="38100"/>
            <a:chOff x="0" y="0"/>
            <a:chExt cx="6869506" cy="50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869557" cy="50800"/>
            </a:xfrm>
            <a:custGeom>
              <a:avLst/>
              <a:gdLst/>
              <a:ahLst/>
              <a:cxnLst/>
              <a:rect l="l" t="t" r="r" b="b"/>
              <a:pathLst>
                <a:path w="6869557" h="50800">
                  <a:moveTo>
                    <a:pt x="0" y="0"/>
                  </a:moveTo>
                  <a:lnTo>
                    <a:pt x="6869557" y="0"/>
                  </a:lnTo>
                  <a:lnTo>
                    <a:pt x="686955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2034542" y="3510553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Collision Detection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34542" y="4041134"/>
            <a:ext cx="5152130" cy="162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Sistem deteksi tabrakan presisi untuk tembakan, musuh, dan player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01328" y="6112078"/>
            <a:ext cx="629393" cy="4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04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101328" y="6713487"/>
            <a:ext cx="7885357" cy="38100"/>
            <a:chOff x="0" y="0"/>
            <a:chExt cx="10513809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513822" cy="50800"/>
            </a:xfrm>
            <a:custGeom>
              <a:avLst/>
              <a:gdLst/>
              <a:ahLst/>
              <a:cxnLst/>
              <a:rect l="l" t="t" r="r" b="b"/>
              <a:pathLst>
                <a:path w="10513822" h="50800">
                  <a:moveTo>
                    <a:pt x="0" y="0"/>
                  </a:moveTo>
                  <a:lnTo>
                    <a:pt x="10513822" y="0"/>
                  </a:lnTo>
                  <a:lnTo>
                    <a:pt x="1051382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101328" y="6927952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Score System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01328" y="7458523"/>
            <a:ext cx="7885357" cy="112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Penghitungan skor real-time dengan multiplier berdasarkan combo dan kecepatan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301315" y="6112078"/>
            <a:ext cx="629393" cy="498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>
                <a:solidFill>
                  <a:srgbClr val="D7D4CC"/>
                </a:solidFill>
                <a:latin typeface="Comfortaa Light"/>
                <a:ea typeface="Comfortaa Light"/>
                <a:cs typeface="Comfortaa Light"/>
                <a:sym typeface="Comfortaa Light"/>
              </a:rPr>
              <a:t>05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9301315" y="6713487"/>
            <a:ext cx="7885357" cy="38100"/>
            <a:chOff x="0" y="0"/>
            <a:chExt cx="10513809" cy="50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513822" cy="50800"/>
            </a:xfrm>
            <a:custGeom>
              <a:avLst/>
              <a:gdLst/>
              <a:ahLst/>
              <a:cxnLst/>
              <a:rect l="l" t="t" r="r" b="b"/>
              <a:pathLst>
                <a:path w="10513822" h="50800">
                  <a:moveTo>
                    <a:pt x="0" y="0"/>
                  </a:moveTo>
                  <a:lnTo>
                    <a:pt x="10513822" y="0"/>
                  </a:lnTo>
                  <a:lnTo>
                    <a:pt x="10513822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30" name="TextBox 30"/>
          <p:cNvSpPr txBox="1"/>
          <p:nvPr/>
        </p:nvSpPr>
        <p:spPr>
          <a:xfrm>
            <a:off x="9301315" y="6927952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Difficulty Scaling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301315" y="7458523"/>
            <a:ext cx="7885357" cy="112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AI musuh otomatis menyesuaikan kecepatan dan jumlah sesuai performa pemain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FDFE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406" r="-8406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959328" y="848916"/>
            <a:ext cx="7039870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Perkembangan &amp; Status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313239" y="2058143"/>
            <a:ext cx="38100" cy="7341841"/>
            <a:chOff x="0" y="0"/>
            <a:chExt cx="50800" cy="97891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0800" cy="9789160"/>
            </a:xfrm>
            <a:custGeom>
              <a:avLst/>
              <a:gdLst/>
              <a:ahLst/>
              <a:cxnLst/>
              <a:rect l="l" t="t" r="r" b="b"/>
              <a:pathLst>
                <a:path w="50800" h="978916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9763760"/>
                  </a:lnTo>
                  <a:cubicBezTo>
                    <a:pt x="50800" y="9777730"/>
                    <a:pt x="39370" y="9789160"/>
                    <a:pt x="25400" y="9789160"/>
                  </a:cubicBezTo>
                  <a:cubicBezTo>
                    <a:pt x="11430" y="9789160"/>
                    <a:pt x="0" y="9777730"/>
                    <a:pt x="0" y="976376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8629126" y="2393004"/>
            <a:ext cx="944013" cy="38100"/>
            <a:chOff x="0" y="0"/>
            <a:chExt cx="1258684" cy="50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8697" cy="50800"/>
            </a:xfrm>
            <a:custGeom>
              <a:avLst/>
              <a:gdLst/>
              <a:ahLst/>
              <a:cxnLst/>
              <a:rect l="l" t="t" r="r" b="b"/>
              <a:pathLst>
                <a:path w="125869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3297" y="0"/>
                  </a:lnTo>
                  <a:cubicBezTo>
                    <a:pt x="1247267" y="0"/>
                    <a:pt x="1258697" y="11430"/>
                    <a:pt x="1258697" y="25400"/>
                  </a:cubicBezTo>
                  <a:cubicBezTo>
                    <a:pt x="1258697" y="39370"/>
                    <a:pt x="1247267" y="50800"/>
                    <a:pt x="123329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7959252" y="2058143"/>
            <a:ext cx="707974" cy="707974"/>
            <a:chOff x="0" y="0"/>
            <a:chExt cx="943966" cy="94396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43991" cy="943991"/>
            </a:xfrm>
            <a:custGeom>
              <a:avLst/>
              <a:gdLst/>
              <a:ahLst/>
              <a:cxnLst/>
              <a:rect l="l" t="t" r="r" b="b"/>
              <a:pathLst>
                <a:path w="943991" h="943991">
                  <a:moveTo>
                    <a:pt x="0" y="471932"/>
                  </a:moveTo>
                  <a:cubicBezTo>
                    <a:pt x="0" y="211328"/>
                    <a:pt x="211328" y="0"/>
                    <a:pt x="471932" y="0"/>
                  </a:cubicBezTo>
                  <a:cubicBezTo>
                    <a:pt x="732536" y="0"/>
                    <a:pt x="943991" y="211328"/>
                    <a:pt x="943991" y="471932"/>
                  </a:cubicBezTo>
                  <a:cubicBezTo>
                    <a:pt x="943991" y="732536"/>
                    <a:pt x="732663" y="943991"/>
                    <a:pt x="471932" y="943991"/>
                  </a:cubicBezTo>
                  <a:cubicBezTo>
                    <a:pt x="211201" y="943991"/>
                    <a:pt x="0" y="732663"/>
                    <a:pt x="0" y="47193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8103394" y="2197446"/>
            <a:ext cx="419548" cy="476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32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86798" y="2147145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Week 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886798" y="2677716"/>
            <a:ext cx="7299874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Setup project dan implementasi Three.js core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8629126" y="4259904"/>
            <a:ext cx="944013" cy="38100"/>
            <a:chOff x="0" y="0"/>
            <a:chExt cx="1258684" cy="50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58697" cy="50800"/>
            </a:xfrm>
            <a:custGeom>
              <a:avLst/>
              <a:gdLst/>
              <a:ahLst/>
              <a:cxnLst/>
              <a:rect l="l" t="t" r="r" b="b"/>
              <a:pathLst>
                <a:path w="125869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3297" y="0"/>
                  </a:lnTo>
                  <a:cubicBezTo>
                    <a:pt x="1247267" y="0"/>
                    <a:pt x="1258697" y="11430"/>
                    <a:pt x="1258697" y="25400"/>
                  </a:cubicBezTo>
                  <a:cubicBezTo>
                    <a:pt x="1258697" y="39370"/>
                    <a:pt x="1247267" y="50800"/>
                    <a:pt x="123329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7959252" y="3925043"/>
            <a:ext cx="707974" cy="707974"/>
            <a:chOff x="0" y="0"/>
            <a:chExt cx="943966" cy="94396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43991" cy="943991"/>
            </a:xfrm>
            <a:custGeom>
              <a:avLst/>
              <a:gdLst/>
              <a:ahLst/>
              <a:cxnLst/>
              <a:rect l="l" t="t" r="r" b="b"/>
              <a:pathLst>
                <a:path w="943991" h="943991">
                  <a:moveTo>
                    <a:pt x="0" y="471932"/>
                  </a:moveTo>
                  <a:cubicBezTo>
                    <a:pt x="0" y="211328"/>
                    <a:pt x="211328" y="0"/>
                    <a:pt x="471932" y="0"/>
                  </a:cubicBezTo>
                  <a:cubicBezTo>
                    <a:pt x="732536" y="0"/>
                    <a:pt x="943991" y="211328"/>
                    <a:pt x="943991" y="471932"/>
                  </a:cubicBezTo>
                  <a:cubicBezTo>
                    <a:pt x="943991" y="732536"/>
                    <a:pt x="732663" y="943991"/>
                    <a:pt x="471932" y="943991"/>
                  </a:cubicBezTo>
                  <a:cubicBezTo>
                    <a:pt x="211201" y="943991"/>
                    <a:pt x="0" y="732663"/>
                    <a:pt x="0" y="47193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8103394" y="4064346"/>
            <a:ext cx="419548" cy="476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32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886798" y="4014045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Week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886798" y="4544616"/>
            <a:ext cx="7299874" cy="11215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Development player movement dan shooting mechanics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629126" y="6630438"/>
            <a:ext cx="944013" cy="38100"/>
            <a:chOff x="0" y="0"/>
            <a:chExt cx="1258684" cy="50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258697" cy="50800"/>
            </a:xfrm>
            <a:custGeom>
              <a:avLst/>
              <a:gdLst/>
              <a:ahLst/>
              <a:cxnLst/>
              <a:rect l="l" t="t" r="r" b="b"/>
              <a:pathLst>
                <a:path w="125869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3297" y="0"/>
                  </a:lnTo>
                  <a:cubicBezTo>
                    <a:pt x="1247267" y="0"/>
                    <a:pt x="1258697" y="11430"/>
                    <a:pt x="1258697" y="25400"/>
                  </a:cubicBezTo>
                  <a:cubicBezTo>
                    <a:pt x="1258697" y="39370"/>
                    <a:pt x="1247267" y="50800"/>
                    <a:pt x="123329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7959252" y="6295577"/>
            <a:ext cx="707974" cy="707974"/>
            <a:chOff x="0" y="0"/>
            <a:chExt cx="943966" cy="94396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943991" cy="943991"/>
            </a:xfrm>
            <a:custGeom>
              <a:avLst/>
              <a:gdLst/>
              <a:ahLst/>
              <a:cxnLst/>
              <a:rect l="l" t="t" r="r" b="b"/>
              <a:pathLst>
                <a:path w="943991" h="943991">
                  <a:moveTo>
                    <a:pt x="0" y="471932"/>
                  </a:moveTo>
                  <a:cubicBezTo>
                    <a:pt x="0" y="211328"/>
                    <a:pt x="211328" y="0"/>
                    <a:pt x="471932" y="0"/>
                  </a:cubicBezTo>
                  <a:cubicBezTo>
                    <a:pt x="732536" y="0"/>
                    <a:pt x="943991" y="211328"/>
                    <a:pt x="943991" y="471932"/>
                  </a:cubicBezTo>
                  <a:cubicBezTo>
                    <a:pt x="943991" y="732536"/>
                    <a:pt x="732663" y="943991"/>
                    <a:pt x="471932" y="943991"/>
                  </a:cubicBezTo>
                  <a:cubicBezTo>
                    <a:pt x="211201" y="943991"/>
                    <a:pt x="0" y="732663"/>
                    <a:pt x="0" y="47193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33" name="TextBox 33"/>
          <p:cNvSpPr txBox="1"/>
          <p:nvPr/>
        </p:nvSpPr>
        <p:spPr>
          <a:xfrm>
            <a:off x="8103394" y="6434880"/>
            <a:ext cx="419548" cy="476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32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886798" y="6384579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Week 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886798" y="6915150"/>
            <a:ext cx="7299874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Enemy AI dan collision system implementation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8629126" y="8497338"/>
            <a:ext cx="944013" cy="38100"/>
            <a:chOff x="0" y="0"/>
            <a:chExt cx="1258684" cy="508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258697" cy="50800"/>
            </a:xfrm>
            <a:custGeom>
              <a:avLst/>
              <a:gdLst/>
              <a:ahLst/>
              <a:cxnLst/>
              <a:rect l="l" t="t" r="r" b="b"/>
              <a:pathLst>
                <a:path w="1258697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3297" y="0"/>
                  </a:lnTo>
                  <a:cubicBezTo>
                    <a:pt x="1247267" y="0"/>
                    <a:pt x="1258697" y="11430"/>
                    <a:pt x="1258697" y="25400"/>
                  </a:cubicBezTo>
                  <a:cubicBezTo>
                    <a:pt x="1258697" y="39370"/>
                    <a:pt x="1247267" y="50800"/>
                    <a:pt x="1233297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5F5F63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7959252" y="8162477"/>
            <a:ext cx="707974" cy="707974"/>
            <a:chOff x="0" y="0"/>
            <a:chExt cx="943966" cy="94396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43991" cy="943991"/>
            </a:xfrm>
            <a:custGeom>
              <a:avLst/>
              <a:gdLst/>
              <a:ahLst/>
              <a:cxnLst/>
              <a:rect l="l" t="t" r="r" b="b"/>
              <a:pathLst>
                <a:path w="943991" h="943991">
                  <a:moveTo>
                    <a:pt x="0" y="471932"/>
                  </a:moveTo>
                  <a:cubicBezTo>
                    <a:pt x="0" y="211328"/>
                    <a:pt x="211328" y="0"/>
                    <a:pt x="471932" y="0"/>
                  </a:cubicBezTo>
                  <a:cubicBezTo>
                    <a:pt x="732536" y="0"/>
                    <a:pt x="943991" y="211328"/>
                    <a:pt x="943991" y="471932"/>
                  </a:cubicBezTo>
                  <a:cubicBezTo>
                    <a:pt x="943991" y="732536"/>
                    <a:pt x="732663" y="943991"/>
                    <a:pt x="471932" y="943991"/>
                  </a:cubicBezTo>
                  <a:cubicBezTo>
                    <a:pt x="211201" y="943991"/>
                    <a:pt x="0" y="732663"/>
                    <a:pt x="0" y="471932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8103394" y="8301780"/>
            <a:ext cx="419548" cy="476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50"/>
              </a:lnSpc>
            </a:pPr>
            <a:r>
              <a:rPr lang="en-US" sz="32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4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886798" y="8251479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Week 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886798" y="8782050"/>
            <a:ext cx="7299874" cy="61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Polishing visual effects dan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01328" y="2176910"/>
            <a:ext cx="6942087" cy="73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Keunggulan &amp; Pembeda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01328" y="3543595"/>
            <a:ext cx="5151987" cy="4528242"/>
            <a:chOff x="0" y="0"/>
            <a:chExt cx="6869316" cy="603765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869303" cy="6037707"/>
            </a:xfrm>
            <a:custGeom>
              <a:avLst/>
              <a:gdLst/>
              <a:ahLst/>
              <a:cxnLst/>
              <a:rect l="l" t="t" r="r" b="b"/>
              <a:pathLst>
                <a:path w="6869303" h="6037707">
                  <a:moveTo>
                    <a:pt x="0" y="629412"/>
                  </a:moveTo>
                  <a:cubicBezTo>
                    <a:pt x="0" y="281813"/>
                    <a:pt x="281813" y="0"/>
                    <a:pt x="629412" y="0"/>
                  </a:cubicBezTo>
                  <a:lnTo>
                    <a:pt x="6239891" y="0"/>
                  </a:lnTo>
                  <a:cubicBezTo>
                    <a:pt x="6587490" y="0"/>
                    <a:pt x="6869303" y="281813"/>
                    <a:pt x="6869303" y="629412"/>
                  </a:cubicBezTo>
                  <a:lnTo>
                    <a:pt x="6869303" y="5408295"/>
                  </a:lnTo>
                  <a:cubicBezTo>
                    <a:pt x="6869303" y="5755894"/>
                    <a:pt x="6587490" y="6037707"/>
                    <a:pt x="6239891" y="6037707"/>
                  </a:cubicBezTo>
                  <a:lnTo>
                    <a:pt x="629412" y="6037707"/>
                  </a:lnTo>
                  <a:cubicBezTo>
                    <a:pt x="281813" y="6037707"/>
                    <a:pt x="0" y="5755894"/>
                    <a:pt x="0" y="540829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415948" y="3858216"/>
            <a:ext cx="944013" cy="944013"/>
            <a:chOff x="0" y="0"/>
            <a:chExt cx="1258684" cy="125868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58697" cy="1258697"/>
            </a:xfrm>
            <a:custGeom>
              <a:avLst/>
              <a:gdLst/>
              <a:ahLst/>
              <a:cxnLst/>
              <a:rect l="l" t="t" r="r" b="b"/>
              <a:pathLst>
                <a:path w="1258697" h="1258697">
                  <a:moveTo>
                    <a:pt x="0" y="629285"/>
                  </a:moveTo>
                  <a:cubicBezTo>
                    <a:pt x="0" y="281813"/>
                    <a:pt x="281813" y="0"/>
                    <a:pt x="629285" y="0"/>
                  </a:cubicBezTo>
                  <a:cubicBezTo>
                    <a:pt x="976757" y="0"/>
                    <a:pt x="1258697" y="281813"/>
                    <a:pt x="1258697" y="629285"/>
                  </a:cubicBezTo>
                  <a:cubicBezTo>
                    <a:pt x="1258697" y="976757"/>
                    <a:pt x="976884" y="1258697"/>
                    <a:pt x="629285" y="1258697"/>
                  </a:cubicBezTo>
                  <a:cubicBezTo>
                    <a:pt x="281686" y="1258697"/>
                    <a:pt x="0" y="976884"/>
                    <a:pt x="0" y="62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11" name="Freeform 11" descr="preencoded.png"/>
          <p:cNvSpPr/>
          <p:nvPr/>
        </p:nvSpPr>
        <p:spPr>
          <a:xfrm>
            <a:off x="1675505" y="4117772"/>
            <a:ext cx="424758" cy="424758"/>
          </a:xfrm>
          <a:custGeom>
            <a:avLst/>
            <a:gdLst/>
            <a:ahLst/>
            <a:cxnLst/>
            <a:rect l="l" t="t" r="r" b="b"/>
            <a:pathLst>
              <a:path w="424758" h="424758">
                <a:moveTo>
                  <a:pt x="0" y="0"/>
                </a:moveTo>
                <a:lnTo>
                  <a:pt x="424758" y="0"/>
                </a:lnTo>
                <a:lnTo>
                  <a:pt x="424758" y="424758"/>
                </a:lnTo>
                <a:lnTo>
                  <a:pt x="0" y="4247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2221" b="-32221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415948" y="5097809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Ringan &amp; Cepat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5948" y="5628380"/>
            <a:ext cx="4522737" cy="212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Tanpa engine berat, loading instan langsung di browser dengan performa 60 FPS stabil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567935" y="3543595"/>
            <a:ext cx="5151987" cy="4528242"/>
            <a:chOff x="0" y="0"/>
            <a:chExt cx="6869316" cy="60376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869303" cy="6037707"/>
            </a:xfrm>
            <a:custGeom>
              <a:avLst/>
              <a:gdLst/>
              <a:ahLst/>
              <a:cxnLst/>
              <a:rect l="l" t="t" r="r" b="b"/>
              <a:pathLst>
                <a:path w="6869303" h="6037707">
                  <a:moveTo>
                    <a:pt x="0" y="629412"/>
                  </a:moveTo>
                  <a:cubicBezTo>
                    <a:pt x="0" y="281813"/>
                    <a:pt x="281813" y="0"/>
                    <a:pt x="629412" y="0"/>
                  </a:cubicBezTo>
                  <a:lnTo>
                    <a:pt x="6239891" y="0"/>
                  </a:lnTo>
                  <a:cubicBezTo>
                    <a:pt x="6587490" y="0"/>
                    <a:pt x="6869303" y="281813"/>
                    <a:pt x="6869303" y="629412"/>
                  </a:cubicBezTo>
                  <a:lnTo>
                    <a:pt x="6869303" y="5408295"/>
                  </a:lnTo>
                  <a:cubicBezTo>
                    <a:pt x="6869303" y="5755894"/>
                    <a:pt x="6587490" y="6037707"/>
                    <a:pt x="6239891" y="6037707"/>
                  </a:cubicBezTo>
                  <a:lnTo>
                    <a:pt x="629412" y="6037707"/>
                  </a:lnTo>
                  <a:cubicBezTo>
                    <a:pt x="281813" y="6037707"/>
                    <a:pt x="0" y="5755894"/>
                    <a:pt x="0" y="540829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6882555" y="3858216"/>
            <a:ext cx="944013" cy="944013"/>
            <a:chOff x="0" y="0"/>
            <a:chExt cx="1258684" cy="125868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58697" cy="1258697"/>
            </a:xfrm>
            <a:custGeom>
              <a:avLst/>
              <a:gdLst/>
              <a:ahLst/>
              <a:cxnLst/>
              <a:rect l="l" t="t" r="r" b="b"/>
              <a:pathLst>
                <a:path w="1258697" h="1258697">
                  <a:moveTo>
                    <a:pt x="0" y="629285"/>
                  </a:moveTo>
                  <a:cubicBezTo>
                    <a:pt x="0" y="281813"/>
                    <a:pt x="281813" y="0"/>
                    <a:pt x="629285" y="0"/>
                  </a:cubicBezTo>
                  <a:cubicBezTo>
                    <a:pt x="976757" y="0"/>
                    <a:pt x="1258697" y="281813"/>
                    <a:pt x="1258697" y="629285"/>
                  </a:cubicBezTo>
                  <a:cubicBezTo>
                    <a:pt x="1258697" y="976757"/>
                    <a:pt x="976884" y="1258697"/>
                    <a:pt x="629285" y="1258697"/>
                  </a:cubicBezTo>
                  <a:cubicBezTo>
                    <a:pt x="281686" y="1258697"/>
                    <a:pt x="0" y="976884"/>
                    <a:pt x="0" y="62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18" name="Freeform 18" descr="preencoded.png"/>
          <p:cNvSpPr/>
          <p:nvPr/>
        </p:nvSpPr>
        <p:spPr>
          <a:xfrm>
            <a:off x="7142112" y="4117772"/>
            <a:ext cx="424758" cy="424758"/>
          </a:xfrm>
          <a:custGeom>
            <a:avLst/>
            <a:gdLst/>
            <a:ahLst/>
            <a:cxnLst/>
            <a:rect l="l" t="t" r="r" b="b"/>
            <a:pathLst>
              <a:path w="424758" h="424758">
                <a:moveTo>
                  <a:pt x="0" y="0"/>
                </a:moveTo>
                <a:lnTo>
                  <a:pt x="424758" y="0"/>
                </a:lnTo>
                <a:lnTo>
                  <a:pt x="424758" y="424758"/>
                </a:lnTo>
                <a:lnTo>
                  <a:pt x="0" y="4247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6882555" y="5097809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Gameplay Adiktif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882555" y="5628380"/>
            <a:ext cx="4522737" cy="212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Difficulty scaling otomatis menjaga tantangan tetap menarik dari pemain pemula hingga expert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2034542" y="3543595"/>
            <a:ext cx="5152130" cy="4528242"/>
            <a:chOff x="0" y="0"/>
            <a:chExt cx="6869506" cy="60376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869557" cy="6037707"/>
            </a:xfrm>
            <a:custGeom>
              <a:avLst/>
              <a:gdLst/>
              <a:ahLst/>
              <a:cxnLst/>
              <a:rect l="l" t="t" r="r" b="b"/>
              <a:pathLst>
                <a:path w="6869557" h="6037707">
                  <a:moveTo>
                    <a:pt x="0" y="629412"/>
                  </a:moveTo>
                  <a:cubicBezTo>
                    <a:pt x="0" y="281813"/>
                    <a:pt x="281813" y="0"/>
                    <a:pt x="629412" y="0"/>
                  </a:cubicBezTo>
                  <a:lnTo>
                    <a:pt x="6240145" y="0"/>
                  </a:lnTo>
                  <a:cubicBezTo>
                    <a:pt x="6587744" y="0"/>
                    <a:pt x="6869557" y="281813"/>
                    <a:pt x="6869557" y="629412"/>
                  </a:cubicBezTo>
                  <a:lnTo>
                    <a:pt x="6869557" y="5408295"/>
                  </a:lnTo>
                  <a:cubicBezTo>
                    <a:pt x="6869557" y="5755894"/>
                    <a:pt x="6587744" y="6037707"/>
                    <a:pt x="6240145" y="6037707"/>
                  </a:cubicBezTo>
                  <a:lnTo>
                    <a:pt x="629412" y="6037707"/>
                  </a:lnTo>
                  <a:cubicBezTo>
                    <a:pt x="281813" y="6037707"/>
                    <a:pt x="0" y="5755894"/>
                    <a:pt x="0" y="5408295"/>
                  </a:cubicBezTo>
                  <a:close/>
                </a:path>
              </a:pathLst>
            </a:custGeom>
            <a:solidFill>
              <a:srgbClr val="46464A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2349162" y="3858216"/>
            <a:ext cx="944013" cy="944013"/>
            <a:chOff x="0" y="0"/>
            <a:chExt cx="1258684" cy="125868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58697" cy="1258697"/>
            </a:xfrm>
            <a:custGeom>
              <a:avLst/>
              <a:gdLst/>
              <a:ahLst/>
              <a:cxnLst/>
              <a:rect l="l" t="t" r="r" b="b"/>
              <a:pathLst>
                <a:path w="1258697" h="1258697">
                  <a:moveTo>
                    <a:pt x="0" y="629285"/>
                  </a:moveTo>
                  <a:cubicBezTo>
                    <a:pt x="0" y="281813"/>
                    <a:pt x="281813" y="0"/>
                    <a:pt x="629285" y="0"/>
                  </a:cubicBezTo>
                  <a:cubicBezTo>
                    <a:pt x="976757" y="0"/>
                    <a:pt x="1258697" y="281813"/>
                    <a:pt x="1258697" y="629285"/>
                  </a:cubicBezTo>
                  <a:cubicBezTo>
                    <a:pt x="1258697" y="976757"/>
                    <a:pt x="976884" y="1258697"/>
                    <a:pt x="629285" y="1258697"/>
                  </a:cubicBezTo>
                  <a:cubicBezTo>
                    <a:pt x="281686" y="1258697"/>
                    <a:pt x="0" y="976884"/>
                    <a:pt x="0" y="629285"/>
                  </a:cubicBezTo>
                  <a:close/>
                </a:path>
              </a:pathLst>
            </a:custGeom>
            <a:solidFill>
              <a:srgbClr val="FFE14D"/>
            </a:solidFill>
          </p:spPr>
        </p:sp>
      </p:grpSp>
      <p:sp>
        <p:nvSpPr>
          <p:cNvPr id="25" name="Freeform 25" descr="preencoded.png"/>
          <p:cNvSpPr/>
          <p:nvPr/>
        </p:nvSpPr>
        <p:spPr>
          <a:xfrm>
            <a:off x="12608719" y="4117772"/>
            <a:ext cx="424758" cy="424758"/>
          </a:xfrm>
          <a:custGeom>
            <a:avLst/>
            <a:gdLst/>
            <a:ahLst/>
            <a:cxnLst/>
            <a:rect l="l" t="t" r="r" b="b"/>
            <a:pathLst>
              <a:path w="424758" h="424758">
                <a:moveTo>
                  <a:pt x="0" y="0"/>
                </a:moveTo>
                <a:lnTo>
                  <a:pt x="424758" y="0"/>
                </a:lnTo>
                <a:lnTo>
                  <a:pt x="424758" y="424758"/>
                </a:lnTo>
                <a:lnTo>
                  <a:pt x="0" y="4247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1111" r="-31109"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2349162" y="5097809"/>
            <a:ext cx="3496713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D7D4CC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Visual Menarik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349162" y="5628380"/>
            <a:ext cx="4522889" cy="2128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Efek parallax dan partikel menciptakan pengalaman visual yang memukau tanpa kompromi performa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B1B1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7272B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2182653" y="2167976"/>
            <a:ext cx="5076647" cy="6088999"/>
          </a:xfrm>
          <a:custGeom>
            <a:avLst/>
            <a:gdLst/>
            <a:ahLst/>
            <a:cxnLst/>
            <a:rect l="l" t="t" r="r" b="b"/>
            <a:pathLst>
              <a:path w="5076647" h="6088999">
                <a:moveTo>
                  <a:pt x="0" y="0"/>
                </a:moveTo>
                <a:lnTo>
                  <a:pt x="5076647" y="0"/>
                </a:lnTo>
                <a:lnTo>
                  <a:pt x="5076647" y="6088999"/>
                </a:lnTo>
                <a:lnTo>
                  <a:pt x="0" y="60889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101328" y="1382020"/>
            <a:ext cx="8195072" cy="6703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 dirty="0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Playable Build &amp; </a:t>
            </a:r>
            <a:r>
              <a:rPr lang="en-US" sz="4375" b="1" dirty="0" err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Penutup</a:t>
            </a:r>
            <a:endParaRPr lang="en-US" sz="4375" b="1" dirty="0">
              <a:solidFill>
                <a:srgbClr val="FFE14D"/>
              </a:solidFill>
              <a:latin typeface="Comfortaa Bold"/>
              <a:ea typeface="Comfortaa Bold"/>
              <a:cs typeface="Comfortaa Bold"/>
              <a:sym typeface="Comfortaa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101328" y="2390917"/>
            <a:ext cx="4296670" cy="456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 dirty="0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Game </a:t>
            </a:r>
            <a:r>
              <a:rPr lang="en-US" sz="2750" b="1" dirty="0" err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Sudah</a:t>
            </a:r>
            <a:r>
              <a:rPr lang="en-US" sz="2750" b="1" dirty="0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</a:t>
            </a:r>
            <a:r>
              <a:rPr lang="en-US" sz="2750" b="1" dirty="0" err="1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Siap</a:t>
            </a:r>
            <a:r>
              <a:rPr lang="en-US" sz="2750" b="1" dirty="0">
                <a:solidFill>
                  <a:srgbClr val="FFE14D"/>
                </a:solidFill>
                <a:latin typeface="Comfortaa Bold"/>
                <a:ea typeface="Comfortaa Bold"/>
                <a:cs typeface="Comfortaa Bold"/>
                <a:sym typeface="Comfortaa Bold"/>
              </a:rPr>
              <a:t> Main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1328" y="3543300"/>
            <a:ext cx="10186692" cy="950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7"/>
              </a:lnSpc>
            </a:pP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Space Origin: Galactic Strike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adalah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prototipe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matang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yang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telah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siap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dimainkan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. Game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dapat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diakses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langsung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</a:t>
            </a:r>
            <a:r>
              <a:rPr lang="en-US" sz="2437" b="1" dirty="0" err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melalui</a:t>
            </a:r>
            <a:r>
              <a:rPr lang="en-US" sz="2437" b="1" dirty="0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browser.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1328" y="5337419"/>
            <a:ext cx="10186692" cy="24592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937"/>
              </a:lnSpc>
              <a:buFont typeface="Arial"/>
              <a:buChar char="•"/>
            </a:pPr>
            <a:r>
              <a:rPr lang="en-US" sz="2437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Polished gameplay</a:t>
            </a: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dengan kontrol responsif</a:t>
            </a:r>
          </a:p>
          <a:p>
            <a:pPr marL="367605" lvl="1" indent="-183803" algn="l">
              <a:lnSpc>
                <a:spcPts val="3937"/>
              </a:lnSpc>
              <a:buFont typeface="Arial"/>
              <a:buChar char="•"/>
            </a:pPr>
            <a:r>
              <a:rPr lang="en-US" sz="2437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Visual lengkap</a:t>
            </a: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dengan efek parallax dan partikel</a:t>
            </a:r>
          </a:p>
          <a:p>
            <a:pPr marL="367605" lvl="1" indent="-183803" algn="l">
              <a:lnSpc>
                <a:spcPts val="3937"/>
              </a:lnSpc>
              <a:buFont typeface="Arial"/>
              <a:buChar char="•"/>
            </a:pPr>
            <a:r>
              <a:rPr lang="en-US" sz="2437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Sistem skor</a:t>
            </a: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dan difficulty scaling aktif</a:t>
            </a:r>
          </a:p>
          <a:p>
            <a:pPr marL="367605" lvl="1" indent="-183803" algn="l">
              <a:lnSpc>
                <a:spcPts val="3937"/>
              </a:lnSpc>
              <a:buFont typeface="Arial"/>
              <a:buChar char="•"/>
            </a:pPr>
            <a:r>
              <a:rPr lang="en-US" sz="2437" b="1">
                <a:solidFill>
                  <a:srgbClr val="D7D4CC"/>
                </a:solidFill>
                <a:latin typeface="Raleway Bold"/>
                <a:ea typeface="Raleway Bold"/>
                <a:cs typeface="Raleway Bold"/>
                <a:sym typeface="Raleway Bold"/>
              </a:rPr>
              <a:t>Dokumentasi</a:t>
            </a:r>
            <a:r>
              <a:rPr lang="en-US" sz="2437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 lengkap di GDD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036959" y="8085525"/>
            <a:ext cx="3807520" cy="821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78"/>
              </a:lnSpc>
            </a:pPr>
            <a:r>
              <a:rPr lang="en-US" sz="4320" b="1">
                <a:solidFill>
                  <a:srgbClr val="D7D4CC"/>
                </a:solidFill>
                <a:latin typeface="Raleway Medium"/>
                <a:ea typeface="Raleway Medium"/>
                <a:cs typeface="Raleway Medium"/>
                <a:sym typeface="Raleway Medium"/>
              </a:rPr>
              <a:t>Terima kasih!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516</Words>
  <Application>Microsoft Office PowerPoint</Application>
  <PresentationFormat>Custom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Raleway Bold</vt:lpstr>
      <vt:lpstr>Calibri</vt:lpstr>
      <vt:lpstr>Comfortaa Bold</vt:lpstr>
      <vt:lpstr>Arial</vt:lpstr>
      <vt:lpstr>Comfortaa Light</vt:lpstr>
      <vt:lpstr>Raleway Medium</vt:lpstr>
      <vt:lpstr>Raleway Medium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Space-Origin-Galactic-Strike.pptx</dc:title>
  <cp:lastModifiedBy>ThinkPad</cp:lastModifiedBy>
  <cp:revision>2</cp:revision>
  <dcterms:created xsi:type="dcterms:W3CDTF">2006-08-16T00:00:00Z</dcterms:created>
  <dcterms:modified xsi:type="dcterms:W3CDTF">2026-04-11T12:16:23Z</dcterms:modified>
  <dc:identifier>DAHGi6SFHl4</dc:identifier>
</cp:coreProperties>
</file>